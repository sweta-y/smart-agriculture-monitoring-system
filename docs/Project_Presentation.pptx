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title, team members, guide and institution.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gap: no numeric, repeatable readings on small farms. Our unit shows four parameters on-site without a phone or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Primary objective, the measurable targets of the prototype, and what is explicitly out of scope for a second-year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prior works compared on cost, latency, modularity and cloud access. Ratings are qualitative and based on the description of each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Input: three sensors. Processing: Arduino UNO. Output: 16x2 LCD. Power comes from a 9 V battery with a 3.7 V cell in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prototype has no database. The ER diagram and schema show how readings would be stored when logging is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Hardware and software used, followed by the four phases of the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assembled prototype and point out each numbered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member owned one area. Replace the placeholder names and roll numbers with the real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that the objectives were fulfilled and outline how the project can grow in later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6416B-B682-0F0A-19E0-137926172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FC27E-C442-8E36-933C-0E2109507B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FE72-AD46-B157-7111-11AFE2331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3F08-22ED-4577-88B7-58404953B8C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5B7BF-D318-414C-3D44-89EE18FAC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BE13B-201C-A340-04AB-48439DF18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A664A-00DA-4820-B256-1606C6037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721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4344-ECC3-CD7E-234B-E8682A133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8133A-DFFC-3FE1-3E6C-18101AD9A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01F65-B158-A7F5-E8AA-920714BF4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3F08-22ED-4577-88B7-58404953B8C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D4BDF-4EF7-D914-3323-8417BDF60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05E05-DC97-5F5E-06AD-0C8B71737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A664A-00DA-4820-B256-1606C6037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173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DDC8C-BF0D-412D-9BDB-EB5EE8C7C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61B8F-B981-DB01-8025-D73C4107B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90ED7-83EB-C043-D6DD-B3BC3150B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3F08-22ED-4577-88B7-58404953B8C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9C54-AA1A-62DF-4F66-98B0E8782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A21F6-8E4E-3FAA-1E63-C7CB10A83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A664A-00DA-4820-B256-1606C6037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531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D6906-5FAD-8874-58B5-97CABFF0D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A9F39-7AC5-E6F1-7C8F-809B242F62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64C7B-BEA1-9BA8-36D0-A82BFAF67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E597E-17FD-3427-B184-01ABC51D9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3F08-22ED-4577-88B7-58404953B8C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77D04-D4D4-FC5D-A141-6A9DB16E2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936B8-D94E-0360-0B5E-4F3EBE0C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A664A-00DA-4820-B256-1606C6037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597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674D8-5D9F-8A31-0A6E-66093EC3F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8094E-F519-DFE4-F7E9-614630A0F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5BB84F-D58E-651B-E257-424E49305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09C2D0-21E4-7D00-344B-4C546DE66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C8E4FC-1DC6-8300-9E29-FEB8774D94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6B950A-10C1-D604-BFEE-ED54E7C1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3F08-22ED-4577-88B7-58404953B8C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1EBC68-EC86-E462-D841-1EC8BA20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A4985F-B133-EB27-3A55-B15790F86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A664A-00DA-4820-B256-1606C6037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683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E3E72-89CA-6FDB-5323-3CB66B9CF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7C5549-77D6-AEA9-E09C-B0A7145EE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3F08-22ED-4577-88B7-58404953B8C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7969-89EE-79BC-01A8-3228575E8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DEF42-47E7-36A6-95F9-2173BA393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A664A-00DA-4820-B256-1606C6037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17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E3FE7-992F-5921-AA46-24214575E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3F08-22ED-4577-88B7-58404953B8C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1B50A3-8420-3E0C-D435-5E48E377C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63E48-5BD0-F00F-3D34-6D77FCB5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A664A-00DA-4820-B256-1606C6037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988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A505A-FD67-2D98-D25E-F06177C34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D2C68-1076-5D90-E529-CE86C9B82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2A1EC-EE5C-B0B1-EB60-356632833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022F1-3819-5E87-44CD-D96975A42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3F08-22ED-4577-88B7-58404953B8C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90979-5FDD-FA6C-C958-F6C71925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9662D-2E75-B747-2BC5-7105F9FE3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A664A-00DA-4820-B256-1606C6037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3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AFAF2-5798-67EF-89C1-36A4E8386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F3B15B-A13B-6D16-235C-1BB68746A3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8F58E-C487-8127-F7B1-D90E6C9DF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B2E01-1AB1-5A7C-F0AD-F619D6847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3F08-22ED-4577-88B7-58404953B8C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52CD4-4765-5DE6-AE0B-4F3FE65E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591B7-FD28-5052-BF7C-082ECC1D7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A664A-00DA-4820-B256-1606C6037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087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93B0E-3C09-CE29-557E-C827A8229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588B3-F4B1-9D46-63B1-BC530B50C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DF3D4-45FA-5ED6-6AB5-9367937DC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3F08-22ED-4577-88B7-58404953B8C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EA02F-141C-9B7B-3CE1-B46610BA5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E7003-C12E-21E2-1A7D-101A1262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A664A-00DA-4820-B256-1606C6037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204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C9E7EB-491E-497D-53C6-1305FC60E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42D00-9EB3-C97B-1B8E-742CB5520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22639-6531-B6FD-72FB-5F30EB529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3F08-22ED-4577-88B7-58404953B8C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9985A-2811-87BE-18E7-59D5F813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98D3A-8439-C0CF-0EFA-DD4EC5FA3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A664A-00DA-4820-B256-1606C6037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3387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87C0D-F0A6-5EED-7556-BED673BF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0AB8D-B423-F21B-FFA4-C098E3E23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D2744-27C3-FE48-0EAC-EEC93823F7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03F08-22ED-4577-88B7-58404953B8C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56838-C78C-FAA8-35A1-116A73167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6B568-24A6-1E39-4857-69C4E288B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9A664A-00DA-4820-B256-1606C6037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627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3346A3F-0D3A-D76F-2708-72A1D51B759C}"/>
              </a:ext>
            </a:extLst>
          </p:cNvPr>
          <p:cNvSpPr/>
          <p:nvPr/>
        </p:nvSpPr>
        <p:spPr>
          <a:xfrm>
            <a:off x="10450286" y="5334000"/>
            <a:ext cx="1741714" cy="1524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51AA06-7E84-BBB3-AC59-0C2C82539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4440" y="411480"/>
            <a:ext cx="10241280" cy="1737360"/>
          </a:xfrm>
        </p:spPr>
        <p:txBody>
          <a:bodyPr wrap="square" anchor="ctr">
            <a:noAutofit/>
          </a:bodyPr>
          <a:lstStyle/>
          <a:p>
            <a:pPr algn="l"/>
            <a:r>
              <a:rPr sz="3400" b="1">
                <a:solidFill>
                  <a:srgbClr val="0E2841"/>
                </a:solidFill>
              </a:rPr>
              <a:t>Smart Agriculture: Crop and Plant Health Monitoring and Air Quality Monitoring System using Arduino UNO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41DDE0E-51A8-6132-352F-EC290F2A1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4440" y="2331720"/>
            <a:ext cx="9144000" cy="2926080"/>
          </a:xfrm>
        </p:spPr>
        <p:txBody>
          <a:bodyPr wrap="square" anchor="t">
            <a:noAutofit/>
          </a:bodyPr>
          <a:lstStyle/>
          <a:p>
            <a:pPr algn="l" marL="0" indent="0">
              <a:spcAft>
                <a:spcPts val="700"/>
              </a:spcAft>
              <a:buNone/>
            </a:pPr>
            <a:r>
              <a:rPr sz="1700" b="1" i="0">
                <a:solidFill>
                  <a:srgbClr val="156082"/>
                </a:solidFill>
              </a:rPr>
              <a:t>Capstone Project  |  SE / Semester III  |  Team ID: ____</a:t>
            </a:r>
            <a:endParaRPr lang="en-IN" dirty="0"/>
          </a:p>
          <a:p>
            <a:pPr algn="l" marL="0" indent="0">
              <a:spcAft>
                <a:spcPts val="700"/>
              </a:spcAft>
              <a:buNone/>
            </a:pPr>
            <a:r>
              <a:rPr sz="1500" b="0" i="0">
                <a:solidFill>
                  <a:srgbClr val="1F2933"/>
                </a:solidFill>
              </a:rPr>
              <a:t>Student Name 1 (Roll No. ____)      Student Name 2 (Roll No. ____)</a:t>
            </a:r>
          </a:p>
          <a:p>
            <a:pPr algn="l" marL="0" indent="0">
              <a:spcAft>
                <a:spcPts val="700"/>
              </a:spcAft>
              <a:buNone/>
            </a:pPr>
            <a:r>
              <a:rPr sz="1500" b="0" i="0">
                <a:solidFill>
                  <a:srgbClr val="1F2933"/>
                </a:solidFill>
              </a:rPr>
              <a:t>Student Name 3 (Roll No. ____)      Student Name 4 (Roll No. ____)</a:t>
            </a:r>
          </a:p>
          <a:p>
            <a:pPr algn="l" marL="0" indent="0">
              <a:spcAft>
                <a:spcPts val="700"/>
              </a:spcAft>
              <a:buNone/>
            </a:pPr>
            <a:r>
              <a:rPr sz="1500" b="1" i="0">
                <a:solidFill>
                  <a:srgbClr val="1F2933"/>
                </a:solidFill>
              </a:rPr>
              <a:t>Department of Computer Engineering</a:t>
            </a:r>
          </a:p>
          <a:p>
            <a:pPr algn="l" marL="0" indent="0">
              <a:spcAft>
                <a:spcPts val="700"/>
              </a:spcAft>
              <a:buNone/>
            </a:pPr>
            <a:r>
              <a:rPr sz="1500" b="0" i="0">
                <a:solidFill>
                  <a:srgbClr val="1F2933"/>
                </a:solidFill>
              </a:rPr>
              <a:t>Faculty Guide: </a:t>
            </a:r>
            <a:r>
              <a:rPr sz="1500" b="1" i="0">
                <a:solidFill>
                  <a:srgbClr val="1F2933"/>
                </a:solidFill>
              </a:rPr>
              <a:t>Megha Godboley</a:t>
            </a:r>
            <a:r>
              <a:rPr sz="1500" b="0" i="0">
                <a:solidFill>
                  <a:srgbClr val="1F2933"/>
                </a:solidFill>
              </a:rPr>
              <a:t>, Assistant Professor, Computer Department, SJCEM</a:t>
            </a:r>
          </a:p>
          <a:p>
            <a:pPr algn="l" marL="0" indent="0">
              <a:spcAft>
                <a:spcPts val="700"/>
              </a:spcAft>
              <a:buNone/>
            </a:pPr>
            <a:r>
              <a:rPr sz="1500" b="0" i="0">
                <a:solidFill>
                  <a:srgbClr val="1F2933"/>
                </a:solidFill>
              </a:rPr>
              <a:t>St. John College of Engineering &amp; Management, University of Mumbai</a:t>
            </a:r>
          </a:p>
          <a:p>
            <a:pPr algn="l" marL="0" indent="0">
              <a:spcAft>
                <a:spcPts val="700"/>
              </a:spcAft>
              <a:buNone/>
            </a:pPr>
            <a:r>
              <a:rPr sz="1500" b="0" i="0">
                <a:solidFill>
                  <a:srgbClr val="1F2933"/>
                </a:solidFill>
              </a:rPr>
              <a:t>Academic Year: 20____ - 20____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DB4529-DCC1-5E01-8793-22B7157074D9}"/>
              </a:ext>
            </a:extLst>
          </p:cNvPr>
          <p:cNvSpPr/>
          <p:nvPr/>
        </p:nvSpPr>
        <p:spPr>
          <a:xfrm>
            <a:off x="0" y="0"/>
            <a:ext cx="783771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C8E2-880F-7039-92F5-B47B9D425C07}"/>
              </a:ext>
            </a:extLst>
          </p:cNvPr>
          <p:cNvSpPr/>
          <p:nvPr/>
        </p:nvSpPr>
        <p:spPr>
          <a:xfrm>
            <a:off x="283028" y="0"/>
            <a:ext cx="653143" cy="6662058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A91759-FC4D-0314-02F6-738FF886DCFD}"/>
              </a:ext>
            </a:extLst>
          </p:cNvPr>
          <p:cNvSpPr/>
          <p:nvPr/>
        </p:nvSpPr>
        <p:spPr>
          <a:xfrm>
            <a:off x="783771" y="6531429"/>
            <a:ext cx="11408229" cy="326571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42CCDB-5605-31D8-995A-967263F53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71" y="5514975"/>
            <a:ext cx="2009775" cy="1343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9F9111-48F0-03B6-EBCD-031B0A913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086" y="5490242"/>
            <a:ext cx="1306286" cy="136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7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3346A3F-0D3A-D76F-2708-72A1D51B759C}"/>
              </a:ext>
            </a:extLst>
          </p:cNvPr>
          <p:cNvSpPr/>
          <p:nvPr/>
        </p:nvSpPr>
        <p:spPr>
          <a:xfrm>
            <a:off x="10450286" y="5334000"/>
            <a:ext cx="1741714" cy="1524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51AA06-7E84-BBB3-AC59-0C2C82539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4440" y="320040"/>
            <a:ext cx="10561320" cy="868680"/>
          </a:xfrm>
        </p:spPr>
        <p:txBody>
          <a:bodyPr wrap="square" anchor="ctr">
            <a:noAutofit/>
          </a:bodyPr>
          <a:lstStyle/>
          <a:p>
            <a:pPr algn="l"/>
            <a:r>
              <a:rPr sz="3000" b="1">
                <a:solidFill>
                  <a:srgbClr val="0E2841"/>
                </a:solidFill>
              </a:rPr>
              <a:t>Problem Statement &amp; Motivation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DB4529-DCC1-5E01-8793-22B7157074D9}"/>
              </a:ext>
            </a:extLst>
          </p:cNvPr>
          <p:cNvSpPr/>
          <p:nvPr/>
        </p:nvSpPr>
        <p:spPr>
          <a:xfrm>
            <a:off x="0" y="0"/>
            <a:ext cx="783771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C8E2-880F-7039-92F5-B47B9D425C07}"/>
              </a:ext>
            </a:extLst>
          </p:cNvPr>
          <p:cNvSpPr/>
          <p:nvPr/>
        </p:nvSpPr>
        <p:spPr>
          <a:xfrm>
            <a:off x="283028" y="0"/>
            <a:ext cx="653143" cy="6662058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A91759-FC4D-0314-02F6-738FF886DCFD}"/>
              </a:ext>
            </a:extLst>
          </p:cNvPr>
          <p:cNvSpPr/>
          <p:nvPr/>
        </p:nvSpPr>
        <p:spPr>
          <a:xfrm>
            <a:off x="783771" y="6531429"/>
            <a:ext cx="11408229" cy="326571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42CCDB-5605-31D8-995A-967263F53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71" y="5514975"/>
            <a:ext cx="2009775" cy="1343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9F9111-48F0-03B6-EBCD-031B0A913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086" y="5490242"/>
            <a:ext cx="1306286" cy="136775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4440" y="1280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 i="0">
                <a:solidFill>
                  <a:srgbClr val="156082"/>
                </a:solidFill>
              </a:rPr>
              <a:t>THE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1572768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800"/>
              </a:spcAft>
              <a:buNone/>
            </a:pPr>
            <a:r>
              <a:rPr sz="1400" b="0" i="0">
                <a:solidFill>
                  <a:srgbClr val="1F2933"/>
                </a:solidFill>
              </a:rPr>
              <a:t>Soil dryness, air temperature, humidity and air quality around plants are still judged by eye or by touch on small farms, nurseries and gardens.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400" b="0" i="0">
                <a:solidFill>
                  <a:srgbClr val="1F2933"/>
                </a:solidFill>
              </a:rPr>
              <a:t>Manual checking gives no numeric value and changes from person to person. Commercial monitoring kits exist, but they are costly and built for large installations.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429000"/>
            <a:ext cx="5577840" cy="169164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 i="0">
                <a:solidFill>
                  <a:srgbClr val="F3F389"/>
                </a:solidFill>
              </a:rPr>
              <a:t>PROPOSED SOLUTION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500" b="0" i="0">
                <a:solidFill>
                  <a:srgbClr val="FFFFFF"/>
                </a:solidFill>
              </a:rPr>
              <a:t>A battery-powered Arduino UNO unit that reads soil moisture, temperature, humidity and air quality and shows them live on a 16x2 LCD.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2801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 i="0">
                <a:solidFill>
                  <a:srgbClr val="156082"/>
                </a:solidFill>
              </a:rPr>
              <a:t>WHY MANUAL CHECKING FALLS SHORT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1600200"/>
            <a:ext cx="4617720" cy="1600200"/>
          </a:xfrm>
          <a:prstGeom prst="roundRect">
            <a:avLst>
              <a:gd name="adj" fmla="val 6000"/>
            </a:avLst>
          </a:prstGeom>
          <a:solidFill>
            <a:srgbClr val="FBF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Aft>
                <a:spcPts val="0"/>
              </a:spcAft>
              <a:buNone/>
            </a:pPr>
            <a:r>
              <a:rPr sz="5400" b="1" i="0">
                <a:solidFill>
                  <a:srgbClr val="E97132"/>
                </a:solidFill>
              </a:rPr>
              <a:t>0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1300" b="0" i="0">
                <a:solidFill>
                  <a:srgbClr val="1F2933"/>
                </a:solidFill>
              </a:rPr>
              <a:t>numeric readings from touch-and-look checking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3429000"/>
            <a:ext cx="4617720" cy="1691640"/>
          </a:xfrm>
          <a:prstGeom prst="roundRect">
            <a:avLst>
              <a:gd name="adj" fmla="val 6000"/>
            </a:avLst>
          </a:prstGeom>
          <a:solidFill>
            <a:srgbClr val="E6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Aft>
                <a:spcPts val="0"/>
              </a:spcAft>
              <a:buNone/>
            </a:pPr>
            <a:r>
              <a:rPr sz="5400" b="1" i="0">
                <a:solidFill>
                  <a:srgbClr val="156082"/>
                </a:solidFill>
              </a:rPr>
              <a:t>4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1300" b="0" i="0">
                <a:solidFill>
                  <a:srgbClr val="1F2933"/>
                </a:solidFill>
              </a:rPr>
              <a:t>parameters shown together by one low-cost unit</a:t>
            </a:r>
          </a:p>
        </p:txBody>
      </p:sp>
    </p:spTree>
    <p:extLst>
      <p:ext uri="{BB962C8B-B14F-4D97-AF65-F5344CB8AC3E}">
        <p14:creationId xmlns:p14="http://schemas.microsoft.com/office/powerpoint/2010/main" val="3225870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3346A3F-0D3A-D76F-2708-72A1D51B759C}"/>
              </a:ext>
            </a:extLst>
          </p:cNvPr>
          <p:cNvSpPr/>
          <p:nvPr/>
        </p:nvSpPr>
        <p:spPr>
          <a:xfrm>
            <a:off x="10450286" y="5334000"/>
            <a:ext cx="1741714" cy="1524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51AA06-7E84-BBB3-AC59-0C2C82539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4440" y="320040"/>
            <a:ext cx="10561320" cy="868680"/>
          </a:xfrm>
        </p:spPr>
        <p:txBody>
          <a:bodyPr wrap="square" anchor="ctr">
            <a:noAutofit/>
          </a:bodyPr>
          <a:lstStyle/>
          <a:p>
            <a:pPr algn="l"/>
            <a:r>
              <a:rPr sz="3000" b="1">
                <a:solidFill>
                  <a:srgbClr val="0E2841"/>
                </a:solidFill>
              </a:rPr>
              <a:t>Project Objectives &amp; Scope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DB4529-DCC1-5E01-8793-22B7157074D9}"/>
              </a:ext>
            </a:extLst>
          </p:cNvPr>
          <p:cNvSpPr/>
          <p:nvPr/>
        </p:nvSpPr>
        <p:spPr>
          <a:xfrm>
            <a:off x="0" y="0"/>
            <a:ext cx="783771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C8E2-880F-7039-92F5-B47B9D425C07}"/>
              </a:ext>
            </a:extLst>
          </p:cNvPr>
          <p:cNvSpPr/>
          <p:nvPr/>
        </p:nvSpPr>
        <p:spPr>
          <a:xfrm>
            <a:off x="283028" y="0"/>
            <a:ext cx="653143" cy="6662058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A91759-FC4D-0314-02F6-738FF886DCFD}"/>
              </a:ext>
            </a:extLst>
          </p:cNvPr>
          <p:cNvSpPr/>
          <p:nvPr/>
        </p:nvSpPr>
        <p:spPr>
          <a:xfrm>
            <a:off x="783771" y="6531429"/>
            <a:ext cx="11408229" cy="326571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42CCDB-5605-31D8-995A-967263F53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71" y="5514975"/>
            <a:ext cx="2009775" cy="1343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9F9111-48F0-03B6-EBCD-031B0A913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086" y="5490242"/>
            <a:ext cx="1306286" cy="136775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234440" y="1325880"/>
            <a:ext cx="3337560" cy="3840480"/>
          </a:xfrm>
          <a:prstGeom prst="roundRect">
            <a:avLst>
              <a:gd name="adj" fmla="val 6000"/>
            </a:avLst>
          </a:prstGeom>
          <a:solidFill>
            <a:srgbClr val="E6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435608" y="1463040"/>
            <a:ext cx="29352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156082"/>
                </a:solidFill>
              </a:rPr>
              <a:t>Primary objective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325880"/>
            <a:ext cx="3337560" cy="3840480"/>
          </a:xfrm>
          <a:prstGeom prst="roundRect">
            <a:avLst>
              <a:gd name="adj" fmla="val 6000"/>
            </a:avLst>
          </a:prstGeom>
          <a:solidFill>
            <a:srgbClr val="E6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047488" y="1463040"/>
            <a:ext cx="29352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156082"/>
                </a:solidFill>
              </a:rPr>
              <a:t>Technical 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1325880"/>
            <a:ext cx="3337560" cy="3840480"/>
          </a:xfrm>
          <a:prstGeom prst="roundRect">
            <a:avLst>
              <a:gd name="adj" fmla="val 6000"/>
            </a:avLst>
          </a:prstGeom>
          <a:solidFill>
            <a:srgbClr val="FBF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59368" y="1463040"/>
            <a:ext cx="29352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156082"/>
                </a:solidFill>
              </a:rPr>
              <a:t>Boundaries / out of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8" y="1920240"/>
            <a:ext cx="2935224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1000"/>
              </a:spcAft>
              <a:buNone/>
            </a:pPr>
            <a:r>
              <a:rPr sz="1400" b="0" i="0">
                <a:solidFill>
                  <a:srgbClr val="1F2933"/>
                </a:solidFill>
              </a:rPr>
              <a:t>Build a working prototype that continuously measures the soil and air conditions important for crop and plant health and shows them on a local display.</a:t>
            </a:r>
          </a:p>
          <a:p>
            <a:pPr algn="l" marL="0" indent="0">
              <a:spcAft>
                <a:spcPts val="1000"/>
              </a:spcAft>
              <a:buNone/>
            </a:pPr>
            <a:r>
              <a:rPr sz="1400" b="0" i="0">
                <a:solidFill>
                  <a:srgbClr val="1F2933"/>
                </a:solidFill>
              </a:rPr>
              <a:t>Keep it portable, battery powered and built from commonly available parts.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1920240"/>
            <a:ext cx="1234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000" b="1" i="0">
                <a:solidFill>
                  <a:srgbClr val="E97132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920240"/>
            <a:ext cx="1673351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00" b="0" i="0">
                <a:solidFill>
                  <a:srgbClr val="1F2933"/>
                </a:solidFill>
              </a:rPr>
              <a:t>parameters: soil moisture, temperature, humidity, air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697480"/>
            <a:ext cx="1234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000" b="1" i="0">
                <a:solidFill>
                  <a:srgbClr val="E97132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697480"/>
            <a:ext cx="1673351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00" b="0" i="0">
                <a:solidFill>
                  <a:srgbClr val="1F2933"/>
                </a:solidFill>
              </a:rPr>
              <a:t>sensors read by one Arduino UNO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3474720"/>
            <a:ext cx="1234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000" b="1" i="0">
                <a:solidFill>
                  <a:srgbClr val="E97132"/>
                </a:solidFill>
              </a:rPr>
              <a:t>16x2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474720"/>
            <a:ext cx="1673351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00" b="0" i="0">
                <a:solidFill>
                  <a:srgbClr val="1F2933"/>
                </a:solidFill>
              </a:rPr>
              <a:t>LCD shows all live readings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4251960"/>
            <a:ext cx="1234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000" b="1" i="0">
                <a:solidFill>
                  <a:srgbClr val="E97132"/>
                </a:solidFill>
              </a:rPr>
              <a:t>9 V + 3.7 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251960"/>
            <a:ext cx="1673351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00" b="0" i="0">
                <a:solidFill>
                  <a:srgbClr val="1F2933"/>
                </a:solidFill>
              </a:rPr>
              <a:t>battery supply, no mains needed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9368" y="1920240"/>
            <a:ext cx="2935224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lr>
                <a:srgbClr val="156082"/>
              </a:buClr>
              <a:buChar char="•"/>
            </a:pPr>
            <a:r>
              <a:rPr sz="1300" b="0" i="0">
                <a:solidFill>
                  <a:srgbClr val="1F2933"/>
                </a:solidFill>
              </a:rPr>
              <a:t>No wireless or cloud connectivity</a:t>
            </a:r>
          </a:p>
          <a:p>
            <a:pPr algn="l" marL="201168" indent="-201168">
              <a:spcAft>
                <a:spcPts val="800"/>
              </a:spcAft>
              <a:buClr>
                <a:srgbClr val="156082"/>
              </a:buClr>
              <a:buChar char="•"/>
            </a:pPr>
            <a:r>
              <a:rPr sz="1300" b="0" i="0">
                <a:solidFill>
                  <a:srgbClr val="1F2933"/>
                </a:solidFill>
              </a:rPr>
              <a:t>No data logging or alerts</a:t>
            </a:r>
          </a:p>
          <a:p>
            <a:pPr algn="l" marL="201168" indent="-201168">
              <a:spcAft>
                <a:spcPts val="800"/>
              </a:spcAft>
              <a:buClr>
                <a:srgbClr val="156082"/>
              </a:buClr>
              <a:buChar char="•"/>
            </a:pPr>
            <a:r>
              <a:rPr sz="1300" b="0" i="0">
                <a:solidFill>
                  <a:srgbClr val="1F2933"/>
                </a:solidFill>
              </a:rPr>
              <a:t>No automatic irrigation</a:t>
            </a:r>
          </a:p>
          <a:p>
            <a:pPr algn="l" marL="201168" indent="-201168">
              <a:spcAft>
                <a:spcPts val="800"/>
              </a:spcAft>
              <a:buClr>
                <a:srgbClr val="156082"/>
              </a:buClr>
              <a:buChar char="•"/>
            </a:pPr>
            <a:r>
              <a:rPr sz="1300" b="0" i="0">
                <a:solidFill>
                  <a:srgbClr val="1F2933"/>
                </a:solidFill>
              </a:rPr>
              <a:t>Single sensing point; bench and small-scale plant tests only</a:t>
            </a:r>
          </a:p>
          <a:p>
            <a:pPr algn="l" marL="201168" indent="-201168">
              <a:spcAft>
                <a:spcPts val="800"/>
              </a:spcAft>
              <a:buClr>
                <a:srgbClr val="156082"/>
              </a:buClr>
              <a:buChar char="•"/>
            </a:pPr>
            <a:r>
              <a:rPr sz="1300" b="0" i="0">
                <a:solidFill>
                  <a:srgbClr val="1F2933"/>
                </a:solidFill>
              </a:rPr>
              <a:t>Sensor accuracy limited to the low-cost parts used</a:t>
            </a:r>
          </a:p>
        </p:txBody>
      </p:sp>
    </p:spTree>
    <p:extLst>
      <p:ext uri="{BB962C8B-B14F-4D97-AF65-F5344CB8AC3E}">
        <p14:creationId xmlns:p14="http://schemas.microsoft.com/office/powerpoint/2010/main" val="3225870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3346A3F-0D3A-D76F-2708-72A1D51B759C}"/>
              </a:ext>
            </a:extLst>
          </p:cNvPr>
          <p:cNvSpPr/>
          <p:nvPr/>
        </p:nvSpPr>
        <p:spPr>
          <a:xfrm>
            <a:off x="10450286" y="5334000"/>
            <a:ext cx="1741714" cy="1524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51AA06-7E84-BBB3-AC59-0C2C82539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4440" y="320040"/>
            <a:ext cx="10561320" cy="868680"/>
          </a:xfrm>
        </p:spPr>
        <p:txBody>
          <a:bodyPr wrap="square" anchor="ctr">
            <a:noAutofit/>
          </a:bodyPr>
          <a:lstStyle/>
          <a:p>
            <a:pPr algn="l"/>
            <a:r>
              <a:rPr sz="3000" b="1">
                <a:solidFill>
                  <a:srgbClr val="0E2841"/>
                </a:solidFill>
              </a:rPr>
              <a:t>Literature Survey &amp; Gap Analysis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DB4529-DCC1-5E01-8793-22B7157074D9}"/>
              </a:ext>
            </a:extLst>
          </p:cNvPr>
          <p:cNvSpPr/>
          <p:nvPr/>
        </p:nvSpPr>
        <p:spPr>
          <a:xfrm>
            <a:off x="0" y="0"/>
            <a:ext cx="783771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C8E2-880F-7039-92F5-B47B9D425C07}"/>
              </a:ext>
            </a:extLst>
          </p:cNvPr>
          <p:cNvSpPr/>
          <p:nvPr/>
        </p:nvSpPr>
        <p:spPr>
          <a:xfrm>
            <a:off x="283028" y="0"/>
            <a:ext cx="653143" cy="6662058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A91759-FC4D-0314-02F6-738FF886DCFD}"/>
              </a:ext>
            </a:extLst>
          </p:cNvPr>
          <p:cNvSpPr/>
          <p:nvPr/>
        </p:nvSpPr>
        <p:spPr>
          <a:xfrm>
            <a:off x="783771" y="6531429"/>
            <a:ext cx="11408229" cy="326571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42CCDB-5605-31D8-995A-967263F53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71" y="5514975"/>
            <a:ext cx="2009775" cy="1343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9F9111-48F0-03B6-EBCD-031B0A913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086" y="5490242"/>
            <a:ext cx="1306286" cy="1367758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234440" y="1280160"/>
          <a:ext cx="10561320" cy="26517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2606040"/>
                <a:gridCol w="1463040"/>
                <a:gridCol w="1097280"/>
                <a:gridCol w="137160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Prior work</a:t>
                      </a:r>
                    </a:p>
                  </a:txBody>
                  <a:tcPr marL="73152" marR="73152" marT="27432" marB="27432" anchor="ctr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73152" marR="73152" marT="27432" marB="27432" anchor="ctr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L="73152" marR="73152" marT="27432" marB="27432" anchor="ctr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Latency</a:t>
                      </a:r>
                    </a:p>
                  </a:txBody>
                  <a:tcPr marL="73152" marR="73152" marT="27432" marB="27432" anchor="ctr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Modularity</a:t>
                      </a:r>
                    </a:p>
                  </a:txBody>
                  <a:tcPr marL="73152" marR="73152" marT="27432" marB="27432" anchor="ctr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Cloud access</a:t>
                      </a:r>
                    </a:p>
                  </a:txBody>
                  <a:tcPr marL="73152" marR="73152" marT="27432" marB="27432" anchor="ctr">
                    <a:solidFill>
                      <a:srgbClr val="15608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Giacobbe et al., Univ. of Messina: IoT + AI plant health and pathogen detection</a:t>
                      </a:r>
                    </a:p>
                  </a:txBody>
                  <a:tcPr marL="73152" marR="73152" marT="27432" marB="27432" anchor="ctr">
                    <a:solidFill>
                      <a:srgbClr val="E6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Growth-data sensing with AI at the edge, shown for tomato crops</a:t>
                      </a:r>
                    </a:p>
                  </a:txBody>
                  <a:tcPr marL="73152" marR="73152" marT="27432" marB="27432" anchor="ctr">
                    <a:solidFill>
                      <a:srgbClr val="E6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Higher: specialised phenotyping sensors</a:t>
                      </a:r>
                    </a:p>
                  </a:txBody>
                  <a:tcPr marL="73152" marR="73152" marT="27432" marB="27432" anchor="ctr">
                    <a:solidFill>
                      <a:srgbClr val="E6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Edge processing</a:t>
                      </a:r>
                    </a:p>
                  </a:txBody>
                  <a:tcPr marL="73152" marR="73152" marT="27432" marB="27432" anchor="ctr">
                    <a:solidFill>
                      <a:srgbClr val="E6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Crop-specific</a:t>
                      </a:r>
                    </a:p>
                  </a:txBody>
                  <a:tcPr marL="73152" marR="73152" marT="27432" marB="27432" anchor="ctr">
                    <a:solidFill>
                      <a:srgbClr val="E6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IoT-connected</a:t>
                      </a:r>
                    </a:p>
                  </a:txBody>
                  <a:tcPr marL="73152" marR="73152" marT="27432" marB="27432" anchor="ctr">
                    <a:solidFill>
                      <a:srgbClr val="E6F0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Plant Monitoring System using KNN (EasyChair Preprint 9698, 2023)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IoT + machine learning; soil moisture, DHT11 and level sensors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Low to medium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Network-dependent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Multi-sensor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IoT-based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Crop monitoring and smart farming using IoT (GeeksforGeeks)</a:t>
                      </a:r>
                    </a:p>
                  </a:txBody>
                  <a:tcPr marL="73152" marR="73152" marT="27432" marB="27432" anchor="ctr">
                    <a:solidFill>
                      <a:srgbClr val="E6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Arduino Uno with soil, DHT22, MQ gas sensors, LCD and SMS alerts</a:t>
                      </a:r>
                    </a:p>
                  </a:txBody>
                  <a:tcPr marL="73152" marR="73152" marT="27432" marB="27432" anchor="ctr">
                    <a:solidFill>
                      <a:srgbClr val="E6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E6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SMS-based alerts</a:t>
                      </a:r>
                    </a:p>
                  </a:txBody>
                  <a:tcPr marL="73152" marR="73152" marT="27432" marB="27432" anchor="ctr">
                    <a:solidFill>
                      <a:srgbClr val="E6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Many sensors</a:t>
                      </a:r>
                    </a:p>
                  </a:txBody>
                  <a:tcPr marL="73152" marR="73152" marT="27432" marB="27432" anchor="ctr">
                    <a:solidFill>
                      <a:srgbClr val="E6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</a:rPr>
                        <a:t>SMS / remote</a:t>
                      </a:r>
                    </a:p>
                  </a:txBody>
                  <a:tcPr marL="73152" marR="73152" marT="27432" marB="27432" anchor="ctr">
                    <a:solidFill>
                      <a:srgbClr val="E6F0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56082"/>
                          </a:solidFill>
                        </a:rPr>
                        <a:t>Our project</a:t>
                      </a:r>
                    </a:p>
                  </a:txBody>
                  <a:tcPr marL="73152" marR="73152" marT="27432" marB="27432" anchor="ctr">
                    <a:solidFill>
                      <a:srgbClr val="FBFB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</a:rPr>
                        <a:t>Arduino UNO with soil, DHT11, MQ135 and LCD in one box</a:t>
                      </a:r>
                    </a:p>
                  </a:txBody>
                  <a:tcPr marL="73152" marR="73152" marT="27432" marB="27432" anchor="ctr">
                    <a:solidFill>
                      <a:srgbClr val="FBFB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FBFB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</a:rPr>
                        <a:t>Instant, on-device</a:t>
                      </a:r>
                    </a:p>
                  </a:txBody>
                  <a:tcPr marL="73152" marR="73152" marT="27432" marB="27432" anchor="ctr">
                    <a:solidFill>
                      <a:srgbClr val="FBFB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</a:rPr>
                        <a:t>Sensors can be added</a:t>
                      </a:r>
                    </a:p>
                  </a:txBody>
                  <a:tcPr marL="73152" marR="73152" marT="27432" marB="27432" anchor="ctr">
                    <a:solidFill>
                      <a:srgbClr val="FBFB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</a:rPr>
                        <a:t>None (fully offline)</a:t>
                      </a:r>
                    </a:p>
                  </a:txBody>
                  <a:tcPr marL="73152" marR="73152" marT="27432" marB="27432" anchor="ctr">
                    <a:solidFill>
                      <a:srgbClr val="FBFBE0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1234440" y="4343400"/>
            <a:ext cx="10561320" cy="868680"/>
          </a:xfrm>
          <a:prstGeom prst="roundRect">
            <a:avLst>
              <a:gd name="adj" fmla="val 6000"/>
            </a:avLst>
          </a:prstGeom>
          <a:solidFill>
            <a:srgbClr val="E6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 marL="0" indent="0">
              <a:spcAft>
                <a:spcPts val="200"/>
              </a:spcAft>
              <a:buNone/>
            </a:pPr>
            <a:r>
              <a:rPr sz="1300" b="1" i="0">
                <a:solidFill>
                  <a:srgbClr val="156082"/>
                </a:solidFill>
              </a:rPr>
              <a:t>Gap: </a:t>
            </a:r>
            <a:r>
              <a:rPr sz="1300" b="0" i="0">
                <a:solidFill>
                  <a:srgbClr val="1F2933"/>
                </a:solidFill>
              </a:rPr>
              <a:t>existing work either depends on connectivity or AI, or adds alerts through extra modules. Our project targets the simplest case: a low-cost, offline unit that shows all readings at a glance. Alerts and connectivity are the next step.</a:t>
            </a:r>
          </a:p>
        </p:txBody>
      </p:sp>
    </p:spTree>
    <p:extLst>
      <p:ext uri="{BB962C8B-B14F-4D97-AF65-F5344CB8AC3E}">
        <p14:creationId xmlns:p14="http://schemas.microsoft.com/office/powerpoint/2010/main" val="3225870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3346A3F-0D3A-D76F-2708-72A1D51B759C}"/>
              </a:ext>
            </a:extLst>
          </p:cNvPr>
          <p:cNvSpPr/>
          <p:nvPr/>
        </p:nvSpPr>
        <p:spPr>
          <a:xfrm>
            <a:off x="10450286" y="5334000"/>
            <a:ext cx="1741714" cy="1524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51AA06-7E84-BBB3-AC59-0C2C82539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4440" y="320040"/>
            <a:ext cx="10561320" cy="868680"/>
          </a:xfrm>
        </p:spPr>
        <p:txBody>
          <a:bodyPr wrap="square" anchor="ctr">
            <a:noAutofit/>
          </a:bodyPr>
          <a:lstStyle/>
          <a:p>
            <a:pPr algn="l"/>
            <a:r>
              <a:rPr sz="3000" b="1">
                <a:solidFill>
                  <a:srgbClr val="0E2841"/>
                </a:solidFill>
              </a:rPr>
              <a:t>Proposed System Architecture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DB4529-DCC1-5E01-8793-22B7157074D9}"/>
              </a:ext>
            </a:extLst>
          </p:cNvPr>
          <p:cNvSpPr/>
          <p:nvPr/>
        </p:nvSpPr>
        <p:spPr>
          <a:xfrm>
            <a:off x="0" y="0"/>
            <a:ext cx="783771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C8E2-880F-7039-92F5-B47B9D425C07}"/>
              </a:ext>
            </a:extLst>
          </p:cNvPr>
          <p:cNvSpPr/>
          <p:nvPr/>
        </p:nvSpPr>
        <p:spPr>
          <a:xfrm>
            <a:off x="283028" y="0"/>
            <a:ext cx="653143" cy="6662058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A91759-FC4D-0314-02F6-738FF886DCFD}"/>
              </a:ext>
            </a:extLst>
          </p:cNvPr>
          <p:cNvSpPr/>
          <p:nvPr/>
        </p:nvSpPr>
        <p:spPr>
          <a:xfrm>
            <a:off x="783771" y="6531429"/>
            <a:ext cx="11408229" cy="326571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42CCDB-5605-31D8-995A-967263F53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71" y="5514975"/>
            <a:ext cx="2009775" cy="1343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9F9111-48F0-03B6-EBCD-031B0A913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086" y="5490242"/>
            <a:ext cx="1306286" cy="136775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234440" y="1371600"/>
            <a:ext cx="2286000" cy="685800"/>
          </a:xfrm>
          <a:prstGeom prst="roundRect">
            <a:avLst>
              <a:gd name="adj" fmla="val 6000"/>
            </a:avLst>
          </a:prstGeom>
          <a:solidFill>
            <a:srgbClr val="E6F0F5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1F2933"/>
                </a:solidFill>
              </a:rPr>
              <a:t>DHT11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1100" b="0" i="0">
                <a:solidFill>
                  <a:srgbClr val="1F2933"/>
                </a:solidFill>
              </a:rPr>
              <a:t>temperature + humidity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2194560"/>
            <a:ext cx="2286000" cy="685800"/>
          </a:xfrm>
          <a:prstGeom prst="roundRect">
            <a:avLst>
              <a:gd name="adj" fmla="val 6000"/>
            </a:avLst>
          </a:prstGeom>
          <a:solidFill>
            <a:srgbClr val="E6F0F5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1F2933"/>
                </a:solidFill>
              </a:rPr>
              <a:t>MQ135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1100" b="0" i="0">
                <a:solidFill>
                  <a:srgbClr val="1F2933"/>
                </a:solidFill>
              </a:rPr>
              <a:t>air quality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017520"/>
            <a:ext cx="2286000" cy="685800"/>
          </a:xfrm>
          <a:prstGeom prst="roundRect">
            <a:avLst>
              <a:gd name="adj" fmla="val 6000"/>
            </a:avLst>
          </a:prstGeom>
          <a:solidFill>
            <a:srgbClr val="E6F0F5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1F2933"/>
                </a:solidFill>
              </a:rPr>
              <a:t>Soil moisture sensor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1100" b="0" i="0">
                <a:solidFill>
                  <a:srgbClr val="1F2933"/>
                </a:solidFill>
              </a:rPr>
              <a:t>soil dryness / wetness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611880" y="1554480"/>
            <a:ext cx="777240" cy="320040"/>
          </a:xfrm>
          <a:prstGeom prst="rightArrow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520440" y="1874519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00" b="0" i="0">
                <a:solidFill>
                  <a:srgbClr val="5B6770"/>
                </a:solidFill>
              </a:rPr>
              <a:t>digital (pin 7)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611880" y="2377440"/>
            <a:ext cx="777240" cy="320040"/>
          </a:xfrm>
          <a:prstGeom prst="rightArrow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520440" y="2697480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00" b="0" i="0">
                <a:solidFill>
                  <a:srgbClr val="5B6770"/>
                </a:solidFill>
              </a:rPr>
              <a:t>analog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611880" y="3200400"/>
            <a:ext cx="777240" cy="320040"/>
          </a:xfrm>
          <a:prstGeom prst="rightArrow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520440" y="3520439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00" b="0" i="0">
                <a:solidFill>
                  <a:srgbClr val="5B6770"/>
                </a:solidFill>
              </a:rPr>
              <a:t>analog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1234440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FBFBE0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100" b="1" i="0">
                <a:solidFill>
                  <a:srgbClr val="1F2933"/>
                </a:solidFill>
              </a:rPr>
              <a:t>Power: 9 V + 3.7 V cells, switch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669280" y="1709928"/>
            <a:ext cx="274320" cy="256032"/>
          </a:xfrm>
          <a:prstGeom prst="downArrow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572000" y="201168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600" b="1" i="0">
                <a:solidFill>
                  <a:srgbClr val="FFFFFF"/>
                </a:solidFill>
              </a:rPr>
              <a:t>Arduino UNO</a:t>
            </a:r>
          </a:p>
          <a:p>
            <a:pPr algn="ctr"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F3F389"/>
                </a:solidFill>
              </a:rPr>
              <a:t>ATmega328P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1100" b="0" i="0">
                <a:solidFill>
                  <a:srgbClr val="FFFFFF"/>
                </a:solidFill>
              </a:rPr>
              <a:t>reads sensors, converts ADC values, formats output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223760" y="2514600"/>
            <a:ext cx="868680" cy="320040"/>
          </a:xfrm>
          <a:prstGeom prst="rightArrow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275320" y="1874519"/>
            <a:ext cx="3520440" cy="960120"/>
          </a:xfrm>
          <a:prstGeom prst="roundRect">
            <a:avLst>
              <a:gd name="adj" fmla="val 6000"/>
            </a:avLst>
          </a:prstGeom>
          <a:solidFill>
            <a:srgbClr val="E6F0F5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Aft>
                <a:spcPts val="0"/>
              </a:spcAft>
              <a:buNone/>
            </a:pPr>
            <a:r>
              <a:rPr sz="1400" b="1" i="0">
                <a:solidFill>
                  <a:srgbClr val="1F2933"/>
                </a:solidFill>
              </a:rPr>
              <a:t>16x2 LCD display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1100" b="0" i="0">
                <a:solidFill>
                  <a:srgbClr val="1F2933"/>
                </a:solidFill>
              </a:rPr>
              <a:t>live readings for the user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01752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FBFBE0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100" b="1" i="0">
                <a:solidFill>
                  <a:srgbClr val="1F2933"/>
                </a:solidFill>
              </a:rPr>
              <a:t>10k preset: LCD contrast adjustment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0030968" y="2834640"/>
            <a:ext cx="0" cy="182880"/>
          </a:xfrm>
          <a:prstGeom prst="line">
            <a:avLst/>
          </a:prstGeom>
          <a:ln w="22225">
            <a:solidFill>
              <a:srgbClr val="1560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234440" y="38587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 i="0">
                <a:solidFill>
                  <a:srgbClr val="156082"/>
                </a:solidFill>
              </a:rPr>
              <a:t>DATA FLOW, LAYER BY LAYER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4160520"/>
            <a:ext cx="24688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1325880" y="4233672"/>
            <a:ext cx="310896" cy="3108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09928" y="4233672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 i="0">
                <a:solidFill>
                  <a:srgbClr val="156082"/>
                </a:solidFill>
              </a:rPr>
              <a:t>Sensing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4168" y="457200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1F2933"/>
                </a:solidFill>
              </a:rPr>
              <a:t>Sensors convert soil moisture, gas level, temperature and humidity into signals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31920" y="4160520"/>
            <a:ext cx="24688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4023360" y="4233672"/>
            <a:ext cx="310896" cy="3108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07408" y="4233672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 i="0">
                <a:solidFill>
                  <a:srgbClr val="156082"/>
                </a:solidFill>
              </a:rPr>
              <a:t>Acquisition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457200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1F2933"/>
                </a:solidFill>
              </a:rPr>
              <a:t>Analog outputs pass through the 10-bit ADC (0 to 1023); DHT11 sends digital data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29400" y="4160520"/>
            <a:ext cx="24688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6720840" y="4233672"/>
            <a:ext cx="310896" cy="3108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4888" y="4233672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 i="0">
                <a:solidFill>
                  <a:srgbClr val="156082"/>
                </a:solidFill>
              </a:rPr>
              <a:t>Processing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39128" y="457200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1F2933"/>
                </a:solidFill>
              </a:rPr>
              <a:t>The sketch reads each value and prepares text for the display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26880" y="4160520"/>
            <a:ext cx="24688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9418320" y="4233672"/>
            <a:ext cx="310896" cy="3108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02368" y="4233672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 i="0">
                <a:solidFill>
                  <a:srgbClr val="156082"/>
                </a:solidFill>
              </a:rPr>
              <a:t>Output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36608" y="457200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1F2933"/>
                </a:solidFill>
              </a:rPr>
              <a:t>The LCD shows the readings and refreshes as conditions change</a:t>
            </a:r>
          </a:p>
        </p:txBody>
      </p:sp>
    </p:spTree>
    <p:extLst>
      <p:ext uri="{BB962C8B-B14F-4D97-AF65-F5344CB8AC3E}">
        <p14:creationId xmlns:p14="http://schemas.microsoft.com/office/powerpoint/2010/main" val="3225870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3346A3F-0D3A-D76F-2708-72A1D51B759C}"/>
              </a:ext>
            </a:extLst>
          </p:cNvPr>
          <p:cNvSpPr/>
          <p:nvPr/>
        </p:nvSpPr>
        <p:spPr>
          <a:xfrm>
            <a:off x="10450286" y="5334000"/>
            <a:ext cx="1741714" cy="1524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51AA06-7E84-BBB3-AC59-0C2C82539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4440" y="320040"/>
            <a:ext cx="10561320" cy="868680"/>
          </a:xfrm>
        </p:spPr>
        <p:txBody>
          <a:bodyPr wrap="square" anchor="ctr">
            <a:noAutofit/>
          </a:bodyPr>
          <a:lstStyle/>
          <a:p>
            <a:pPr algn="l"/>
            <a:r>
              <a:rPr sz="3000" b="1">
                <a:solidFill>
                  <a:srgbClr val="0E2841"/>
                </a:solidFill>
              </a:rPr>
              <a:t>ER Diagram &amp; Database Schema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DB4529-DCC1-5E01-8793-22B7157074D9}"/>
              </a:ext>
            </a:extLst>
          </p:cNvPr>
          <p:cNvSpPr/>
          <p:nvPr/>
        </p:nvSpPr>
        <p:spPr>
          <a:xfrm>
            <a:off x="0" y="0"/>
            <a:ext cx="783771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C8E2-880F-7039-92F5-B47B9D425C07}"/>
              </a:ext>
            </a:extLst>
          </p:cNvPr>
          <p:cNvSpPr/>
          <p:nvPr/>
        </p:nvSpPr>
        <p:spPr>
          <a:xfrm>
            <a:off x="283028" y="0"/>
            <a:ext cx="653143" cy="6662058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A91759-FC4D-0314-02F6-738FF886DCFD}"/>
              </a:ext>
            </a:extLst>
          </p:cNvPr>
          <p:cNvSpPr/>
          <p:nvPr/>
        </p:nvSpPr>
        <p:spPr>
          <a:xfrm>
            <a:off x="783771" y="6531429"/>
            <a:ext cx="11408229" cy="326571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42CCDB-5605-31D8-995A-967263F53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71" y="5514975"/>
            <a:ext cx="2009775" cy="1343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9F9111-48F0-03B6-EBCD-031B0A913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086" y="5490242"/>
            <a:ext cx="1306286" cy="136775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234440" y="1463040"/>
            <a:ext cx="1874519" cy="1216152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234440" y="1463040"/>
            <a:ext cx="1874519" cy="36576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300" b="1" i="0">
                <a:solidFill>
                  <a:srgbClr val="FFFFFF"/>
                </a:solidFill>
              </a:rPr>
              <a:t>SENSOR_NODE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1883664"/>
            <a:ext cx="1691639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050" b="0" i="0">
                <a:solidFill>
                  <a:srgbClr val="1F2933"/>
                </a:solidFill>
              </a:rPr>
              <a:t>node_id (PK)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050" b="0" i="0">
                <a:solidFill>
                  <a:srgbClr val="1F2933"/>
                </a:solidFill>
              </a:rPr>
              <a:t>location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050" b="0" i="0">
                <a:solidFill>
                  <a:srgbClr val="1F2933"/>
                </a:solidFill>
              </a:rPr>
              <a:t>crop_type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1463040"/>
            <a:ext cx="2331720" cy="220370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434840" y="1463040"/>
            <a:ext cx="2331720" cy="36576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300" b="1" i="0">
                <a:solidFill>
                  <a:srgbClr val="FFFFFF"/>
                </a:solidFill>
              </a:rPr>
              <a:t>READING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1883664"/>
            <a:ext cx="2148839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050" b="0" i="0">
                <a:solidFill>
                  <a:srgbClr val="1F2933"/>
                </a:solidFill>
              </a:rPr>
              <a:t>reading_id (PK)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050" b="0" i="0">
                <a:solidFill>
                  <a:srgbClr val="1F2933"/>
                </a:solidFill>
              </a:rPr>
              <a:t>node_id (FK)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050" b="0" i="0">
                <a:solidFill>
                  <a:srgbClr val="1F2933"/>
                </a:solidFill>
              </a:rPr>
              <a:t>recorded_at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050" b="0" i="0">
                <a:solidFill>
                  <a:srgbClr val="1F2933"/>
                </a:solidFill>
              </a:rPr>
              <a:t>temperature_c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050" b="0" i="0">
                <a:solidFill>
                  <a:srgbClr val="1F2933"/>
                </a:solidFill>
              </a:rPr>
              <a:t>humidity_pct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050" b="0" i="0">
                <a:solidFill>
                  <a:srgbClr val="1F2933"/>
                </a:solidFill>
              </a:rPr>
              <a:t>air_quality_raw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050" b="0" i="0">
                <a:solidFill>
                  <a:srgbClr val="1F2933"/>
                </a:solidFill>
              </a:rPr>
              <a:t>soil_moisture_raw</a:t>
            </a:r>
          </a:p>
        </p:txBody>
      </p:sp>
      <p:sp>
        <p:nvSpPr>
          <p:cNvPr id="23" name="Diamond 22"/>
          <p:cNvSpPr/>
          <p:nvPr/>
        </p:nvSpPr>
        <p:spPr>
          <a:xfrm>
            <a:off x="3337560" y="1783080"/>
            <a:ext cx="868680" cy="685800"/>
          </a:xfrm>
          <a:prstGeom prst="diamond">
            <a:avLst/>
          </a:prstGeom>
          <a:solidFill>
            <a:srgbClr val="FBFBE0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000" b="1" i="0">
                <a:solidFill>
                  <a:srgbClr val="1F2933"/>
                </a:solidFill>
              </a:rPr>
              <a:t>has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08960" y="2121408"/>
            <a:ext cx="228600" cy="0"/>
          </a:xfrm>
          <a:prstGeom prst="line">
            <a:avLst/>
          </a:prstGeom>
          <a:ln w="1905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06240" y="2121408"/>
            <a:ext cx="228600" cy="0"/>
          </a:xfrm>
          <a:prstGeom prst="line">
            <a:avLst/>
          </a:prstGeom>
          <a:ln w="1905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27248" y="1874519"/>
            <a:ext cx="201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 i="0">
                <a:solidFill>
                  <a:srgbClr val="E97132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1874519"/>
            <a:ext cx="2194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 i="0">
                <a:solidFill>
                  <a:srgbClr val="E97132"/>
                </a:solidFill>
              </a:rPr>
              <a:t>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01752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00" b="0" i="0">
                <a:solidFill>
                  <a:srgbClr val="5B6770"/>
                </a:solidFill>
              </a:rPr>
              <a:t>One node (a monitoring unit) records many readings over time. Each reading holds the four measured values.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086600" y="1371600"/>
          <a:ext cx="4709160" cy="28163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1737360"/>
                <a:gridCol w="1234440"/>
                <a:gridCol w="502920"/>
              </a:tblGrid>
              <a:tr h="256032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 marL="73152" marR="73152" marT="27432" marB="27432" anchor="ctr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Column</a:t>
                      </a:r>
                    </a:p>
                  </a:txBody>
                  <a:tcPr marL="73152" marR="73152" marT="27432" marB="27432" anchor="ctr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73152" marR="73152" marT="27432" marB="27432" anchor="ctr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Key</a:t>
                      </a:r>
                    </a:p>
                  </a:txBody>
                  <a:tcPr marL="73152" marR="73152" marT="27432" marB="27432" anchor="ctr">
                    <a:solidFill>
                      <a:srgbClr val="156082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1F2933"/>
                          </a:solidFill>
                        </a:rPr>
                        <a:t>sensor_node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node_id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PK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1F2933"/>
                          </a:solidFill>
                        </a:rPr>
                        <a:t>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location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VARCHAR(50)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1F2933"/>
                          </a:solidFill>
                        </a:rPr>
                        <a:t>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crop_type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VARCHAR(30)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1F2933"/>
                          </a:solidFill>
                        </a:rPr>
                        <a:t>reading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reading_id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PK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1F2933"/>
                          </a:solidFill>
                        </a:rPr>
                        <a:t>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node_id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FK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1F2933"/>
                          </a:solidFill>
                        </a:rPr>
                        <a:t>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recorded_at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DATETIME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1F2933"/>
                          </a:solidFill>
                        </a:rPr>
                        <a:t>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temperature_c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FLOAT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1F2933"/>
                          </a:solidFill>
                        </a:rPr>
                        <a:t>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humidity_pct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FLOAT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1F2933"/>
                          </a:solidFill>
                        </a:rPr>
                        <a:t>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air_quality_raw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1F2933"/>
                          </a:solidFill>
                        </a:rPr>
                        <a:t>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soil_moisture_raw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1F2933"/>
                          </a:solidFill>
                        </a:rPr>
                        <a:t>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1234440" y="4617720"/>
            <a:ext cx="10561320" cy="594360"/>
          </a:xfrm>
          <a:prstGeom prst="roundRect">
            <a:avLst>
              <a:gd name="adj" fmla="val 6000"/>
            </a:avLst>
          </a:prstGeom>
          <a:solidFill>
            <a:srgbClr val="FBF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 marL="0" indent="0">
              <a:spcAft>
                <a:spcPts val="200"/>
              </a:spcAft>
              <a:buNone/>
            </a:pPr>
            <a:r>
              <a:rPr sz="1250" b="1" i="0">
                <a:solidFill>
                  <a:srgbClr val="156082"/>
                </a:solidFill>
              </a:rPr>
              <a:t>Note: </a:t>
            </a:r>
            <a:r>
              <a:rPr sz="1250" b="0" i="0">
                <a:solidFill>
                  <a:srgbClr val="1F2933"/>
                </a:solidFill>
              </a:rPr>
              <a:t>the current prototype is a standalone unit and stores no data. This schema is the planned data-logging extension (future scope), with one reading saved per sensor cycle.</a:t>
            </a:r>
          </a:p>
        </p:txBody>
      </p:sp>
    </p:spTree>
    <p:extLst>
      <p:ext uri="{BB962C8B-B14F-4D97-AF65-F5344CB8AC3E}">
        <p14:creationId xmlns:p14="http://schemas.microsoft.com/office/powerpoint/2010/main" val="3225870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3346A3F-0D3A-D76F-2708-72A1D51B759C}"/>
              </a:ext>
            </a:extLst>
          </p:cNvPr>
          <p:cNvSpPr/>
          <p:nvPr/>
        </p:nvSpPr>
        <p:spPr>
          <a:xfrm>
            <a:off x="10450286" y="5334000"/>
            <a:ext cx="1741714" cy="1524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51AA06-7E84-BBB3-AC59-0C2C82539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4440" y="320040"/>
            <a:ext cx="10561320" cy="868680"/>
          </a:xfrm>
        </p:spPr>
        <p:txBody>
          <a:bodyPr wrap="square" anchor="ctr">
            <a:noAutofit/>
          </a:bodyPr>
          <a:lstStyle/>
          <a:p>
            <a:pPr algn="l"/>
            <a:r>
              <a:rPr sz="3000" b="1">
                <a:solidFill>
                  <a:srgbClr val="0E2841"/>
                </a:solidFill>
              </a:rPr>
              <a:t>Tech Stack &amp; Methodology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DB4529-DCC1-5E01-8793-22B7157074D9}"/>
              </a:ext>
            </a:extLst>
          </p:cNvPr>
          <p:cNvSpPr/>
          <p:nvPr/>
        </p:nvSpPr>
        <p:spPr>
          <a:xfrm>
            <a:off x="0" y="0"/>
            <a:ext cx="783771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C8E2-880F-7039-92F5-B47B9D425C07}"/>
              </a:ext>
            </a:extLst>
          </p:cNvPr>
          <p:cNvSpPr/>
          <p:nvPr/>
        </p:nvSpPr>
        <p:spPr>
          <a:xfrm>
            <a:off x="283028" y="0"/>
            <a:ext cx="653143" cy="6662058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A91759-FC4D-0314-02F6-738FF886DCFD}"/>
              </a:ext>
            </a:extLst>
          </p:cNvPr>
          <p:cNvSpPr/>
          <p:nvPr/>
        </p:nvSpPr>
        <p:spPr>
          <a:xfrm>
            <a:off x="783771" y="6531429"/>
            <a:ext cx="11408229" cy="326571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42CCDB-5605-31D8-995A-967263F53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71" y="5514975"/>
            <a:ext cx="2009775" cy="1343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9F9111-48F0-03B6-EBCD-031B0A913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086" y="5490242"/>
            <a:ext cx="1306286" cy="136775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234440" y="1280160"/>
            <a:ext cx="5166360" cy="2103120"/>
          </a:xfrm>
          <a:prstGeom prst="roundRect">
            <a:avLst>
              <a:gd name="adj" fmla="val 6000"/>
            </a:avLst>
          </a:prstGeom>
          <a:solidFill>
            <a:srgbClr val="E6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629400" y="1280160"/>
            <a:ext cx="5166360" cy="2103120"/>
          </a:xfrm>
          <a:prstGeom prst="roundRect">
            <a:avLst>
              <a:gd name="adj" fmla="val 6000"/>
            </a:avLst>
          </a:prstGeom>
          <a:solidFill>
            <a:srgbClr val="FBF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417320" y="13533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400" b="1" i="0">
                <a:solidFill>
                  <a:srgbClr val="156082"/>
                </a:solidFill>
              </a:rPr>
              <a:t>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1664208"/>
            <a:ext cx="48463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400"/>
              </a:spcAft>
              <a:buClr>
                <a:srgbClr val="156082"/>
              </a:buClr>
              <a:buChar char="•"/>
            </a:pPr>
            <a:r>
              <a:rPr sz="1250" b="0" i="0">
                <a:solidFill>
                  <a:srgbClr val="1F2933"/>
                </a:solidFill>
              </a:rPr>
              <a:t>Arduino UNO (ATmega328P) as controller</a:t>
            </a:r>
          </a:p>
          <a:p>
            <a:pPr algn="l" marL="201168" indent="-201168">
              <a:spcAft>
                <a:spcPts val="400"/>
              </a:spcAft>
              <a:buClr>
                <a:srgbClr val="156082"/>
              </a:buClr>
              <a:buChar char="•"/>
            </a:pPr>
            <a:r>
              <a:rPr sz="1250" b="0" i="0">
                <a:solidFill>
                  <a:srgbClr val="1F2933"/>
                </a:solidFill>
              </a:rPr>
              <a:t>DHT11 (single-wire digital, pin 7), MQ135 and soil moisture sensor (analog)</a:t>
            </a:r>
          </a:p>
          <a:p>
            <a:pPr algn="l" marL="201168" indent="-201168">
              <a:spcAft>
                <a:spcPts val="400"/>
              </a:spcAft>
              <a:buClr>
                <a:srgbClr val="156082"/>
              </a:buClr>
              <a:buChar char="•"/>
            </a:pPr>
            <a:r>
              <a:rPr sz="1250" b="0" i="0">
                <a:solidFill>
                  <a:srgbClr val="1F2933"/>
                </a:solidFill>
              </a:rPr>
              <a:t>16x2 LCD with 10k contrast preset</a:t>
            </a:r>
          </a:p>
          <a:p>
            <a:pPr algn="l" marL="201168" indent="-201168">
              <a:spcAft>
                <a:spcPts val="400"/>
              </a:spcAft>
              <a:buClr>
                <a:srgbClr val="156082"/>
              </a:buClr>
              <a:buChar char="•"/>
            </a:pPr>
            <a:r>
              <a:rPr sz="1250" b="0" i="0">
                <a:solidFill>
                  <a:srgbClr val="1F2933"/>
                </a:solidFill>
              </a:rPr>
              <a:t>9 V battery + 3.7 V rechargeable cell, switch, enclosure</a:t>
            </a:r>
          </a:p>
          <a:p>
            <a:pPr algn="l" marL="201168" indent="-201168">
              <a:spcAft>
                <a:spcPts val="400"/>
              </a:spcAft>
              <a:buClr>
                <a:srgbClr val="156082"/>
              </a:buClr>
              <a:buChar char="•"/>
            </a:pPr>
            <a:r>
              <a:rPr sz="1250" b="0" i="0">
                <a:solidFill>
                  <a:srgbClr val="1F2933"/>
                </a:solidFill>
              </a:rPr>
              <a:t>No I2C, SPI, UART or CAN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13533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400" b="1" i="0">
                <a:solidFill>
                  <a:srgbClr val="156082"/>
                </a:solidFill>
              </a:rPr>
              <a:t>Software &amp;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1664208"/>
            <a:ext cx="48463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400"/>
              </a:spcAft>
              <a:buClr>
                <a:srgbClr val="156082"/>
              </a:buClr>
              <a:buChar char="•"/>
            </a:pPr>
            <a:r>
              <a:rPr sz="1250" b="0" i="0">
                <a:solidFill>
                  <a:srgbClr val="1F2933"/>
                </a:solidFill>
              </a:rPr>
              <a:t>Arduino IDE to write and upload the sketch</a:t>
            </a:r>
          </a:p>
          <a:p>
            <a:pPr algn="l" marL="201168" indent="-201168">
              <a:spcAft>
                <a:spcPts val="400"/>
              </a:spcAft>
              <a:buClr>
                <a:srgbClr val="156082"/>
              </a:buClr>
              <a:buChar char="•"/>
            </a:pPr>
            <a:r>
              <a:rPr sz="1250" b="0" i="0">
                <a:solidFill>
                  <a:srgbClr val="1F2933"/>
                </a:solidFill>
              </a:rPr>
              <a:t>Arduino C/C++ language</a:t>
            </a:r>
          </a:p>
          <a:p>
            <a:pPr algn="l" marL="201168" indent="-201168">
              <a:spcAft>
                <a:spcPts val="400"/>
              </a:spcAft>
              <a:buClr>
                <a:srgbClr val="156082"/>
              </a:buClr>
              <a:buChar char="•"/>
            </a:pPr>
            <a:r>
              <a:rPr sz="1250" b="0" i="0">
                <a:solidFill>
                  <a:srgbClr val="1F2933"/>
                </a:solidFill>
              </a:rPr>
              <a:t>DHT sensor and LiquidCrystal libraries</a:t>
            </a:r>
          </a:p>
          <a:p>
            <a:pPr algn="l" marL="201168" indent="-201168">
              <a:spcAft>
                <a:spcPts val="400"/>
              </a:spcAft>
              <a:buClr>
                <a:srgbClr val="156082"/>
              </a:buClr>
              <a:buChar char="•"/>
            </a:pPr>
            <a:r>
              <a:rPr sz="1250" b="0" i="0">
                <a:solidFill>
                  <a:srgbClr val="1F2933"/>
                </a:solidFill>
              </a:rPr>
              <a:t>ADC: 10-bit, values 0 to 1023</a:t>
            </a:r>
          </a:p>
          <a:p>
            <a:pPr algn="l" marL="201168" indent="-201168">
              <a:spcAft>
                <a:spcPts val="400"/>
              </a:spcAft>
              <a:buClr>
                <a:srgbClr val="156082"/>
              </a:buClr>
              <a:buChar char="•"/>
            </a:pPr>
            <a:r>
              <a:rPr sz="1250" b="0" i="0">
                <a:solidFill>
                  <a:srgbClr val="1F2933"/>
                </a:solidFill>
              </a:rPr>
              <a:t>No cloud, database or ML in the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5204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 i="0">
                <a:solidFill>
                  <a:srgbClr val="156082"/>
                </a:solidFill>
              </a:rPr>
              <a:t>EXECUTION WORKFLOW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" y="3840480"/>
            <a:ext cx="23957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1344168" y="3931920"/>
            <a:ext cx="329184" cy="3291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3931920"/>
            <a:ext cx="1792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 i="0">
                <a:solidFill>
                  <a:srgbClr val="156082"/>
                </a:solidFill>
              </a:rPr>
              <a:t>Select &amp; prepare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2456" y="4343400"/>
            <a:ext cx="2139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1F2933"/>
                </a:solidFill>
              </a:rPr>
              <a:t>Choose sensors; solder LCD wires; add contrast preset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657600" y="4407408"/>
            <a:ext cx="271272" cy="256032"/>
          </a:xfrm>
          <a:prstGeom prst="rightArrow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3956304" y="3840480"/>
            <a:ext cx="23957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4066032" y="3931920"/>
            <a:ext cx="329184" cy="3291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6656" y="3931920"/>
            <a:ext cx="1792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 i="0">
                <a:solidFill>
                  <a:srgbClr val="156082"/>
                </a:solidFill>
              </a:rPr>
              <a:t>Assemble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84320" y="4343400"/>
            <a:ext cx="2139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1F2933"/>
                </a:solidFill>
              </a:rPr>
              <a:t>Mount parts in the box; jumper wiring; extend the soil probe wire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379464" y="4407408"/>
            <a:ext cx="271272" cy="256032"/>
          </a:xfrm>
          <a:prstGeom prst="rightArrow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678168" y="3840480"/>
            <a:ext cx="23957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787896" y="3931920"/>
            <a:ext cx="329184" cy="3291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8520" y="3931920"/>
            <a:ext cx="1792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 i="0">
                <a:solidFill>
                  <a:srgbClr val="156082"/>
                </a:solidFill>
              </a:rPr>
              <a:t>Firmware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06184" y="4343400"/>
            <a:ext cx="2139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1F2933"/>
                </a:solidFill>
              </a:rPr>
              <a:t>Write and upload the sketch: read sensors, print on LCD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101328" y="4407408"/>
            <a:ext cx="271272" cy="256032"/>
          </a:xfrm>
          <a:prstGeom prst="rightArrow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9400032" y="3840480"/>
            <a:ext cx="23957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9509760" y="3931920"/>
            <a:ext cx="329184" cy="3291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30384" y="3931920"/>
            <a:ext cx="1792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 i="0">
                <a:solidFill>
                  <a:srgbClr val="156082"/>
                </a:solidFill>
              </a:rPr>
              <a:t>Integrate &amp; 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8048" y="4343400"/>
            <a:ext cx="2139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1F2933"/>
                </a:solidFill>
              </a:rPr>
              <a:t>Add 9 V + 3.7 V supply; test dry / wet soil, open / closed box, near plants</a:t>
            </a:r>
          </a:p>
        </p:txBody>
      </p:sp>
    </p:spTree>
    <p:extLst>
      <p:ext uri="{BB962C8B-B14F-4D97-AF65-F5344CB8AC3E}">
        <p14:creationId xmlns:p14="http://schemas.microsoft.com/office/powerpoint/2010/main" val="3225870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3346A3F-0D3A-D76F-2708-72A1D51B759C}"/>
              </a:ext>
            </a:extLst>
          </p:cNvPr>
          <p:cNvSpPr/>
          <p:nvPr/>
        </p:nvSpPr>
        <p:spPr>
          <a:xfrm>
            <a:off x="10450286" y="5334000"/>
            <a:ext cx="1741714" cy="1524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51AA06-7E84-BBB3-AC59-0C2C82539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4440" y="320040"/>
            <a:ext cx="10561320" cy="868680"/>
          </a:xfrm>
        </p:spPr>
        <p:txBody>
          <a:bodyPr wrap="square" anchor="ctr">
            <a:noAutofit/>
          </a:bodyPr>
          <a:lstStyle/>
          <a:p>
            <a:pPr algn="l"/>
            <a:r>
              <a:rPr sz="3000" b="1">
                <a:solidFill>
                  <a:srgbClr val="0E2841"/>
                </a:solidFill>
              </a:rPr>
              <a:t>Hardware Prototype / Experimental Setup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DB4529-DCC1-5E01-8793-22B7157074D9}"/>
              </a:ext>
            </a:extLst>
          </p:cNvPr>
          <p:cNvSpPr/>
          <p:nvPr/>
        </p:nvSpPr>
        <p:spPr>
          <a:xfrm>
            <a:off x="0" y="0"/>
            <a:ext cx="783771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C8E2-880F-7039-92F5-B47B9D425C07}"/>
              </a:ext>
            </a:extLst>
          </p:cNvPr>
          <p:cNvSpPr/>
          <p:nvPr/>
        </p:nvSpPr>
        <p:spPr>
          <a:xfrm>
            <a:off x="283028" y="0"/>
            <a:ext cx="653143" cy="6662058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A91759-FC4D-0314-02F6-738FF886DCFD}"/>
              </a:ext>
            </a:extLst>
          </p:cNvPr>
          <p:cNvSpPr/>
          <p:nvPr/>
        </p:nvSpPr>
        <p:spPr>
          <a:xfrm>
            <a:off x="783771" y="6531429"/>
            <a:ext cx="11408229" cy="326571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42CCDB-5605-31D8-995A-967263F53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71" y="5514975"/>
            <a:ext cx="2009775" cy="1343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9F9111-48F0-03B6-EBCD-031B0A913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086" y="5490242"/>
            <a:ext cx="1306286" cy="136775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234440" y="1280160"/>
            <a:ext cx="60350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B67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" bIns="36576"/>
          <a:lstStyle/>
          <a:p>
            <a:pPr algn="ctr"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5B6770"/>
                </a:solidFill>
              </a:rPr>
              <a:t>Prototype photograph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1200" b="0" i="0">
                <a:solidFill>
                  <a:srgbClr val="5B6770"/>
                </a:solidFill>
              </a:rPr>
              <a:t>Insert the photo of the assembled unit here, then place markers 1 to 6 on the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2801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 i="0">
                <a:solidFill>
                  <a:srgbClr val="156082"/>
                </a:solidFill>
              </a:rPr>
              <a:t>KEY CALLOUTS</a:t>
            </a:r>
          </a:p>
        </p:txBody>
      </p:sp>
      <p:sp>
        <p:nvSpPr>
          <p:cNvPr id="19" name="Oval 18"/>
          <p:cNvSpPr/>
          <p:nvPr/>
        </p:nvSpPr>
        <p:spPr>
          <a:xfrm>
            <a:off x="7543800" y="1655064"/>
            <a:ext cx="329184" cy="3291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1600200"/>
            <a:ext cx="3794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1F2933"/>
                </a:solidFill>
              </a:rPr>
              <a:t>Power circuit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5B6770"/>
                </a:solidFill>
              </a:rPr>
              <a:t>9 V battery, 3.7 V cell, switch, power jack</a:t>
            </a:r>
          </a:p>
        </p:txBody>
      </p:sp>
      <p:sp>
        <p:nvSpPr>
          <p:cNvPr id="21" name="Oval 20"/>
          <p:cNvSpPr/>
          <p:nvPr/>
        </p:nvSpPr>
        <p:spPr>
          <a:xfrm>
            <a:off x="7543800" y="2130552"/>
            <a:ext cx="329184" cy="3291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075688"/>
            <a:ext cx="3794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1F2933"/>
                </a:solidFill>
              </a:rPr>
              <a:t>MCU board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5B6770"/>
                </a:solidFill>
              </a:rPr>
              <a:t>Arduino UNO</a:t>
            </a:r>
          </a:p>
        </p:txBody>
      </p:sp>
      <p:sp>
        <p:nvSpPr>
          <p:cNvPr id="23" name="Oval 22"/>
          <p:cNvSpPr/>
          <p:nvPr/>
        </p:nvSpPr>
        <p:spPr>
          <a:xfrm>
            <a:off x="7543800" y="2606040"/>
            <a:ext cx="329184" cy="3291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551176"/>
            <a:ext cx="3794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1F2933"/>
                </a:solidFill>
              </a:rPr>
              <a:t>Display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5B6770"/>
                </a:solidFill>
              </a:rPr>
              <a:t>16x2 LCD with contrast preset</a:t>
            </a:r>
          </a:p>
        </p:txBody>
      </p:sp>
      <p:sp>
        <p:nvSpPr>
          <p:cNvPr id="25" name="Oval 24"/>
          <p:cNvSpPr/>
          <p:nvPr/>
        </p:nvSpPr>
        <p:spPr>
          <a:xfrm>
            <a:off x="7543800" y="3081528"/>
            <a:ext cx="329184" cy="3291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026664"/>
            <a:ext cx="3794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1F2933"/>
                </a:solidFill>
              </a:rPr>
              <a:t>Air-quality sensor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5B6770"/>
                </a:solidFill>
              </a:rPr>
              <a:t>MQ135, exposed through box openings</a:t>
            </a:r>
          </a:p>
        </p:txBody>
      </p:sp>
      <p:sp>
        <p:nvSpPr>
          <p:cNvPr id="27" name="Oval 26"/>
          <p:cNvSpPr/>
          <p:nvPr/>
        </p:nvSpPr>
        <p:spPr>
          <a:xfrm>
            <a:off x="7543800" y="3557016"/>
            <a:ext cx="329184" cy="3291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502152"/>
            <a:ext cx="3794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1F2933"/>
                </a:solidFill>
              </a:rPr>
              <a:t>Temp / humidity sensor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5B6770"/>
                </a:solidFill>
              </a:rPr>
              <a:t>DHT11</a:t>
            </a:r>
          </a:p>
        </p:txBody>
      </p:sp>
      <p:sp>
        <p:nvSpPr>
          <p:cNvPr id="29" name="Oval 28"/>
          <p:cNvSpPr/>
          <p:nvPr/>
        </p:nvSpPr>
        <p:spPr>
          <a:xfrm>
            <a:off x="7543800" y="4032503"/>
            <a:ext cx="329184" cy="3291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3977639"/>
            <a:ext cx="3794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1F2933"/>
                </a:solidFill>
              </a:rPr>
              <a:t>Soil probe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5B6770"/>
                </a:solidFill>
              </a:rPr>
              <a:t>Soil moisture sensor on extended wire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4617720"/>
            <a:ext cx="4251960" cy="594360"/>
          </a:xfrm>
          <a:prstGeom prst="roundRect">
            <a:avLst>
              <a:gd name="adj" fmla="val 6000"/>
            </a:avLst>
          </a:prstGeom>
          <a:solidFill>
            <a:srgbClr val="E6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 marL="0" indent="0">
              <a:spcAft>
                <a:spcPts val="200"/>
              </a:spcAft>
              <a:buNone/>
            </a:pPr>
            <a:r>
              <a:rPr sz="1150" b="0" i="0">
                <a:solidFill>
                  <a:srgbClr val="1F2933"/>
                </a:solidFill>
              </a:rPr>
              <a:t>Tested: dry soil vs water, enclosure open vs closed, unit near plants</a:t>
            </a:r>
          </a:p>
        </p:txBody>
      </p:sp>
    </p:spTree>
    <p:extLst>
      <p:ext uri="{BB962C8B-B14F-4D97-AF65-F5344CB8AC3E}">
        <p14:creationId xmlns:p14="http://schemas.microsoft.com/office/powerpoint/2010/main" val="3225870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3346A3F-0D3A-D76F-2708-72A1D51B759C}"/>
              </a:ext>
            </a:extLst>
          </p:cNvPr>
          <p:cNvSpPr/>
          <p:nvPr/>
        </p:nvSpPr>
        <p:spPr>
          <a:xfrm>
            <a:off x="10450286" y="5334000"/>
            <a:ext cx="1741714" cy="1524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51AA06-7E84-BBB3-AC59-0C2C82539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4440" y="320040"/>
            <a:ext cx="10561320" cy="868680"/>
          </a:xfrm>
        </p:spPr>
        <p:txBody>
          <a:bodyPr wrap="square" anchor="ctr">
            <a:noAutofit/>
          </a:bodyPr>
          <a:lstStyle/>
          <a:p>
            <a:pPr algn="l"/>
            <a:r>
              <a:rPr sz="3000" b="1">
                <a:solidFill>
                  <a:srgbClr val="0E2841"/>
                </a:solidFill>
              </a:rPr>
              <a:t>Team Division of Work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DB4529-DCC1-5E01-8793-22B7157074D9}"/>
              </a:ext>
            </a:extLst>
          </p:cNvPr>
          <p:cNvSpPr/>
          <p:nvPr/>
        </p:nvSpPr>
        <p:spPr>
          <a:xfrm>
            <a:off x="0" y="0"/>
            <a:ext cx="783771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C8E2-880F-7039-92F5-B47B9D425C07}"/>
              </a:ext>
            </a:extLst>
          </p:cNvPr>
          <p:cNvSpPr/>
          <p:nvPr/>
        </p:nvSpPr>
        <p:spPr>
          <a:xfrm>
            <a:off x="283028" y="0"/>
            <a:ext cx="653143" cy="6662058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A91759-FC4D-0314-02F6-738FF886DCFD}"/>
              </a:ext>
            </a:extLst>
          </p:cNvPr>
          <p:cNvSpPr/>
          <p:nvPr/>
        </p:nvSpPr>
        <p:spPr>
          <a:xfrm>
            <a:off x="783771" y="6531429"/>
            <a:ext cx="11408229" cy="326571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42CCDB-5605-31D8-995A-967263F53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71" y="5514975"/>
            <a:ext cx="2009775" cy="1343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9F9111-48F0-03B6-EBCD-031B0A913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086" y="5490242"/>
            <a:ext cx="1306286" cy="136775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234440" y="128016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E6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417320" y="1463039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1417319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156082"/>
                </a:solidFill>
              </a:rPr>
              <a:t>Circuit &amp; 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17373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5B6770"/>
                </a:solidFill>
              </a:rPr>
              <a:t>Student Name 1 (Roll No. ____)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2057400"/>
            <a:ext cx="4114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200"/>
              </a:spcAft>
              <a:buClr>
                <a:srgbClr val="156082"/>
              </a:buClr>
              <a:buChar char="•"/>
            </a:pPr>
            <a:r>
              <a:rPr sz="1200" b="0" i="0">
                <a:solidFill>
                  <a:srgbClr val="1F2933"/>
                </a:solidFill>
              </a:rPr>
              <a:t>Wiring of sensors, Arduino and LCD</a:t>
            </a:r>
          </a:p>
          <a:p>
            <a:pPr algn="l" marL="201168" indent="-201168">
              <a:spcAft>
                <a:spcPts val="200"/>
              </a:spcAft>
              <a:buClr>
                <a:srgbClr val="156082"/>
              </a:buClr>
              <a:buChar char="•"/>
            </a:pPr>
            <a:r>
              <a:rPr sz="1200" b="0" i="0">
                <a:solidFill>
                  <a:srgbClr val="1F2933"/>
                </a:solidFill>
              </a:rPr>
              <a:t>LCD soldering and contrast preset</a:t>
            </a:r>
          </a:p>
          <a:p>
            <a:pPr algn="l" marL="201168" indent="-201168">
              <a:spcAft>
                <a:spcPts val="200"/>
              </a:spcAft>
              <a:buClr>
                <a:srgbClr val="156082"/>
              </a:buClr>
              <a:buChar char="•"/>
            </a:pPr>
            <a:r>
              <a:rPr sz="1200" b="0" i="0">
                <a:solidFill>
                  <a:srgbClr val="1F2933"/>
                </a:solidFill>
              </a:rPr>
              <a:t>Battery supply and enclosure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19" y="128016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BF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857999" y="1463039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417319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156082"/>
                </a:solidFill>
              </a:rPr>
              <a:t>Firmware &amp; Sensor Interfacing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17373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5B6770"/>
                </a:solidFill>
              </a:rPr>
              <a:t>Student Name 2 (Roll No. ____)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057400"/>
            <a:ext cx="4114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200"/>
              </a:spcAft>
              <a:buClr>
                <a:srgbClr val="156082"/>
              </a:buClr>
              <a:buChar char="•"/>
            </a:pPr>
            <a:r>
              <a:rPr sz="1200" b="0" i="0">
                <a:solidFill>
                  <a:srgbClr val="1F2933"/>
                </a:solidFill>
              </a:rPr>
              <a:t>Arduino sketch and libraries</a:t>
            </a:r>
          </a:p>
          <a:p>
            <a:pPr algn="l" marL="201168" indent="-201168">
              <a:spcAft>
                <a:spcPts val="200"/>
              </a:spcAft>
              <a:buClr>
                <a:srgbClr val="156082"/>
              </a:buClr>
              <a:buChar char="•"/>
            </a:pPr>
            <a:r>
              <a:rPr sz="1200" b="0" i="0">
                <a:solidFill>
                  <a:srgbClr val="1F2933"/>
                </a:solidFill>
              </a:rPr>
              <a:t>Reading DHT11, MQ135, soil sensor</a:t>
            </a:r>
          </a:p>
          <a:p>
            <a:pPr algn="l" marL="201168" indent="-201168">
              <a:spcAft>
                <a:spcPts val="200"/>
              </a:spcAft>
              <a:buClr>
                <a:srgbClr val="156082"/>
              </a:buClr>
              <a:buChar char="•"/>
            </a:pPr>
            <a:r>
              <a:rPr sz="1200" b="0" i="0">
                <a:solidFill>
                  <a:srgbClr val="1F2933"/>
                </a:solidFill>
              </a:rPr>
              <a:t>LCD output formatting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4440" y="3383279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BF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1417320" y="3566160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3520439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156082"/>
                </a:solidFill>
              </a:rPr>
              <a:t>Testing &amp; Calibration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3840479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5B6770"/>
                </a:solidFill>
              </a:rPr>
              <a:t>Student Name 3 (Roll No. ____)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4160520"/>
            <a:ext cx="4114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200"/>
              </a:spcAft>
              <a:buClr>
                <a:srgbClr val="156082"/>
              </a:buClr>
              <a:buChar char="•"/>
            </a:pPr>
            <a:r>
              <a:rPr sz="1200" b="0" i="0">
                <a:solidFill>
                  <a:srgbClr val="1F2933"/>
                </a:solidFill>
              </a:rPr>
              <a:t>Dry / wet soil test</a:t>
            </a:r>
          </a:p>
          <a:p>
            <a:pPr algn="l" marL="201168" indent="-201168">
              <a:spcAft>
                <a:spcPts val="200"/>
              </a:spcAft>
              <a:buClr>
                <a:srgbClr val="156082"/>
              </a:buClr>
              <a:buChar char="•"/>
            </a:pPr>
            <a:r>
              <a:rPr sz="1200" b="0" i="0">
                <a:solidFill>
                  <a:srgbClr val="1F2933"/>
                </a:solidFill>
              </a:rPr>
              <a:t>Open / closed enclosure test</a:t>
            </a:r>
          </a:p>
          <a:p>
            <a:pPr algn="l" marL="201168" indent="-201168">
              <a:spcAft>
                <a:spcPts val="200"/>
              </a:spcAft>
              <a:buClr>
                <a:srgbClr val="156082"/>
              </a:buClr>
              <a:buChar char="•"/>
            </a:pPr>
            <a:r>
              <a:rPr sz="1200" b="0" i="0">
                <a:solidFill>
                  <a:srgbClr val="1F2933"/>
                </a:solidFill>
              </a:rPr>
              <a:t>Field test near plants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19" y="3383279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E6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857999" y="3566160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spcAft>
                <a:spcPts val="200"/>
              </a:spcAft>
              <a:buNone/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520439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156082"/>
                </a:solidFill>
              </a:rPr>
              <a:t>Documentation &amp; Presentation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3840479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5B6770"/>
                </a:solidFill>
              </a:rPr>
              <a:t>Student Name 4 (Roll No. ____)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4160520"/>
            <a:ext cx="4114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200"/>
              </a:spcAft>
              <a:buClr>
                <a:srgbClr val="156082"/>
              </a:buClr>
              <a:buChar char="•"/>
            </a:pPr>
            <a:r>
              <a:rPr sz="1200" b="0" i="0">
                <a:solidFill>
                  <a:srgbClr val="1F2933"/>
                </a:solidFill>
              </a:rPr>
              <a:t>Project report and references</a:t>
            </a:r>
          </a:p>
          <a:p>
            <a:pPr algn="l" marL="201168" indent="-201168">
              <a:spcAft>
                <a:spcPts val="200"/>
              </a:spcAft>
              <a:buClr>
                <a:srgbClr val="156082"/>
              </a:buClr>
              <a:buChar char="•"/>
            </a:pPr>
            <a:r>
              <a:rPr sz="1200" b="0" i="0">
                <a:solidFill>
                  <a:srgbClr val="1F2933"/>
                </a:solidFill>
              </a:rPr>
              <a:t>Presentation and demo video</a:t>
            </a:r>
          </a:p>
          <a:p>
            <a:pPr algn="l" marL="201168" indent="-201168">
              <a:spcAft>
                <a:spcPts val="200"/>
              </a:spcAft>
              <a:buClr>
                <a:srgbClr val="156082"/>
              </a:buClr>
              <a:buChar char="•"/>
            </a:pPr>
            <a:r>
              <a:rPr sz="1200" b="0" i="0">
                <a:solidFill>
                  <a:srgbClr val="1F2933"/>
                </a:solidFill>
              </a:rPr>
              <a:t>Component list and diagrams</a:t>
            </a:r>
          </a:p>
        </p:txBody>
      </p:sp>
    </p:spTree>
    <p:extLst>
      <p:ext uri="{BB962C8B-B14F-4D97-AF65-F5344CB8AC3E}">
        <p14:creationId xmlns:p14="http://schemas.microsoft.com/office/powerpoint/2010/main" val="3225870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3346A3F-0D3A-D76F-2708-72A1D51B759C}"/>
              </a:ext>
            </a:extLst>
          </p:cNvPr>
          <p:cNvSpPr/>
          <p:nvPr/>
        </p:nvSpPr>
        <p:spPr>
          <a:xfrm>
            <a:off x="10450286" y="5334000"/>
            <a:ext cx="1741714" cy="1524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51AA06-7E84-BBB3-AC59-0C2C82539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4440" y="320040"/>
            <a:ext cx="10561320" cy="868680"/>
          </a:xfrm>
        </p:spPr>
        <p:txBody>
          <a:bodyPr wrap="square" anchor="ctr">
            <a:noAutofit/>
          </a:bodyPr>
          <a:lstStyle/>
          <a:p>
            <a:pPr algn="l"/>
            <a:r>
              <a:rPr sz="3000" b="1">
                <a:solidFill>
                  <a:srgbClr val="0E2841"/>
                </a:solidFill>
              </a:rPr>
              <a:t>Conclusion &amp; Future Scope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DB4529-DCC1-5E01-8793-22B7157074D9}"/>
              </a:ext>
            </a:extLst>
          </p:cNvPr>
          <p:cNvSpPr/>
          <p:nvPr/>
        </p:nvSpPr>
        <p:spPr>
          <a:xfrm>
            <a:off x="0" y="0"/>
            <a:ext cx="783771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C8E2-880F-7039-92F5-B47B9D425C07}"/>
              </a:ext>
            </a:extLst>
          </p:cNvPr>
          <p:cNvSpPr/>
          <p:nvPr/>
        </p:nvSpPr>
        <p:spPr>
          <a:xfrm>
            <a:off x="283028" y="0"/>
            <a:ext cx="653143" cy="6662058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A91759-FC4D-0314-02F6-738FF886DCFD}"/>
              </a:ext>
            </a:extLst>
          </p:cNvPr>
          <p:cNvSpPr/>
          <p:nvPr/>
        </p:nvSpPr>
        <p:spPr>
          <a:xfrm>
            <a:off x="783771" y="6531429"/>
            <a:ext cx="11408229" cy="326571"/>
          </a:xfrm>
          <a:prstGeom prst="rect">
            <a:avLst/>
          </a:prstGeom>
          <a:solidFill>
            <a:srgbClr val="F3F3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42CCDB-5605-31D8-995A-967263F53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71" y="5514975"/>
            <a:ext cx="2009775" cy="1343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9F9111-48F0-03B6-EBCD-031B0A913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086" y="5490242"/>
            <a:ext cx="1306286" cy="136775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234440" y="1280160"/>
            <a:ext cx="5029200" cy="393192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8760" y="14173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600" b="1" i="0">
                <a:solidFill>
                  <a:srgbClr val="F3F389"/>
                </a:solidFill>
              </a:rPr>
              <a:t>Summary: objectives met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1920240"/>
            <a:ext cx="44805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9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</a:rPr>
              <a:t>Built a standalone unit that measures soil moisture, temperature, humidity and air quality.</a:t>
            </a:r>
          </a:p>
          <a:p>
            <a:pPr algn="l" marL="201168" indent="-201168">
              <a:spcAft>
                <a:spcPts val="9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</a:rPr>
              <a:t>All four readings appear live on a 16x2 LCD.</a:t>
            </a:r>
          </a:p>
          <a:p>
            <a:pPr algn="l" marL="201168" indent="-201168">
              <a:spcAft>
                <a:spcPts val="9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</a:rPr>
              <a:t>Battery powered and housed in a box with openings for airflow.</a:t>
            </a:r>
          </a:p>
          <a:p>
            <a:pPr algn="l" marL="201168" indent="-201168">
              <a:spcAft>
                <a:spcPts val="9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</a:rPr>
              <a:t>Readings responded correctly to dry and wet soil, open and closed enclosure, and placement near plants.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280160"/>
            <a:ext cx="5303520" cy="3931920"/>
          </a:xfrm>
          <a:prstGeom prst="roundRect">
            <a:avLst>
              <a:gd name="adj" fmla="val 6000"/>
            </a:avLst>
          </a:prstGeom>
          <a:solidFill>
            <a:srgbClr val="FBF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766560" y="14173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600" b="1" i="0">
                <a:solidFill>
                  <a:srgbClr val="156082"/>
                </a:solidFill>
              </a:rPr>
              <a:t>Future work (3rd / 4th year)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92024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50" b="1" i="0">
                <a:solidFill>
                  <a:srgbClr val="0E2841"/>
                </a:solidFill>
              </a:rPr>
              <a:t>Connectivity: </a:t>
            </a:r>
            <a:r>
              <a:rPr sz="1250" b="0" i="0">
                <a:solidFill>
                  <a:srgbClr val="1F2933"/>
                </a:solidFill>
              </a:rPr>
              <a:t>ESP32 with a cloud dashboard or mobile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46888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50" b="1" i="0">
                <a:solidFill>
                  <a:srgbClr val="0E2841"/>
                </a:solidFill>
              </a:rPr>
              <a:t>Data logging: </a:t>
            </a:r>
            <a:r>
              <a:rPr sz="1250" b="0" i="0">
                <a:solidFill>
                  <a:srgbClr val="1F2933"/>
                </a:solidFill>
              </a:rPr>
              <a:t>store readings using the planned schema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01752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50" b="1" i="0">
                <a:solidFill>
                  <a:srgbClr val="0E2841"/>
                </a:solidFill>
              </a:rPr>
              <a:t>Alerts: </a:t>
            </a:r>
            <a:r>
              <a:rPr sz="1250" b="0" i="0">
                <a:solidFill>
                  <a:srgbClr val="1F2933"/>
                </a:solidFill>
              </a:rPr>
              <a:t>buzzer or SMS when a limit is crossed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56616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50" b="1" i="0">
                <a:solidFill>
                  <a:srgbClr val="0E2841"/>
                </a:solidFill>
              </a:rPr>
              <a:t>Automation: </a:t>
            </a:r>
            <a:r>
              <a:rPr sz="1250" b="0" i="0">
                <a:solidFill>
                  <a:srgbClr val="1F2933"/>
                </a:solidFill>
              </a:rPr>
              <a:t>relay and pump for automatic irrigation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1148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50" b="1" i="0">
                <a:solidFill>
                  <a:srgbClr val="0E2841"/>
                </a:solidFill>
              </a:rPr>
              <a:t>Hardware: </a:t>
            </a:r>
            <a:r>
              <a:rPr sz="1250" b="0" i="0">
                <a:solidFill>
                  <a:srgbClr val="1F2933"/>
                </a:solidFill>
              </a:rPr>
              <a:t>custom PCB and weatherproof enclosure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66344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50" b="1" i="0">
                <a:solidFill>
                  <a:srgbClr val="0E2841"/>
                </a:solidFill>
              </a:rPr>
              <a:t>Intelligence: </a:t>
            </a:r>
            <a:r>
              <a:rPr sz="1250" b="0" i="0">
                <a:solidFill>
                  <a:srgbClr val="1F2933"/>
                </a:solidFill>
              </a:rPr>
              <a:t>ML for plant health or disease prediction</a:t>
            </a:r>
          </a:p>
        </p:txBody>
      </p:sp>
    </p:spTree>
    <p:extLst>
      <p:ext uri="{BB962C8B-B14F-4D97-AF65-F5344CB8AC3E}">
        <p14:creationId xmlns:p14="http://schemas.microsoft.com/office/powerpoint/2010/main" val="3225870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15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Darshan Mhapasekar</dc:creator>
  <cp:lastModifiedBy>Darshan Mhapasekar</cp:lastModifiedBy>
  <cp:revision>1</cp:revision>
  <dcterms:created xsi:type="dcterms:W3CDTF">2026-09-22T06:26:28Z</dcterms:created>
  <dcterms:modified xsi:type="dcterms:W3CDTF">2026-09-22T06:42:02Z</dcterms:modified>
</cp:coreProperties>
</file>